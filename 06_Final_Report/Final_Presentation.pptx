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Gemini</c:v>
                  </c:pt>
                  <c:pt idx="1">
                    <c:v>Mistral</c:v>
                  </c:pt>
                  <c:pt idx="2">
                    <c:v>Groq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11.03</c:v>
                </c:pt>
                <c:pt idx="1">
                  <c:v>10.36</c:v>
                </c:pt>
                <c:pt idx="2">
                  <c:v>11.16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1F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of Variation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Gemini</c:v>
                  </c:pt>
                  <c:pt idx="1">
                    <c:v>Mistral</c:v>
                  </c:pt>
                  <c:pt idx="2">
                    <c:v>Groq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0.3056</c:v>
                </c:pt>
                <c:pt idx="1">
                  <c:v>0.2058</c:v>
                </c:pt>
                <c:pt idx="2">
                  <c:v>0.1606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400" u="none">
                  <a:solidFill>
                    <a:srgbClr val="1F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1270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Reasoning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Gemini</c:v>
                  </c:pt>
                  <c:pt idx="1">
                    <c:v>Mistral</c:v>
                  </c:pt>
                  <c:pt idx="2">
                    <c:v>Groq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9.68</c:v>
                </c:pt>
                <c:pt idx="1">
                  <c:v>9.14</c:v>
                </c:pt>
                <c:pt idx="2">
                  <c:v>9.86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Retrieval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Gemini</c:v>
                  </c:pt>
                  <c:pt idx="1">
                    <c:v>Mistral</c:v>
                  </c:pt>
                  <c:pt idx="2">
                    <c:v>Groq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9.23</c:v>
                </c:pt>
                <c:pt idx="1">
                  <c:v>9.05</c:v>
                </c:pt>
                <c:pt idx="2">
                  <c:v>9.59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1F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12700" cap="flat">
              <a:solidFill>
                <a:srgbClr val="E5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1F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Evaluation Framework for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 Free Large Language Models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Human-Validated Comparison of Gemini, Mistral, and Groq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Jazib Asad  |  Computer Science, Institute of Space Technology (KICSIT)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Mr. Uzair, Internship Supervisor, NESCOM (CENTech)  |  Final Presentation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6187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56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83664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Dataset, Rubric,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05456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Validation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12724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Results: All Three Providers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490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Reasoning vs. Retrieval (All Providers)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37083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Instruction Following vs. Difficulty (All Providers)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965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992624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Hallucination Resistance (All Pairwise Comparisons)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586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614416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Profiles &amp; Conclusions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Study?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LLMs are chosen on marketing claims and anecdotes, not statistically grounded evidence.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724912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560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LLM-judges are rarely validated against human judgment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1272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evaluation runs conflate capability with sampling noise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58768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6941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differences are reported without significance testing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25696"/>
            <a:ext cx="10972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26110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infrastructure is volatile — rarely documented honestly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1188720"/>
            <a:ext cx="4937760" cy="4572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0" y="1463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endParaRPr lang="en-US" sz="6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4688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prompts, authored to avoid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contamination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383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4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389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categories, 3 providers,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total scored responses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Pre-Registered Hypotheses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vs. Retrieval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performance differs systematically from knowledge retrieval, within each provider.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5661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645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Constraint-adherence accuracy correlates with prompt difficulty tier.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1371600"/>
            <a:ext cx="35661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1645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Resistance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exhibit measurably different resistance to confidently fabricated content.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Design &amp; Scoring Rubric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Categories, 22 Prompts Each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Retrieval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Multi-step Reasoning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Instruction Following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Hallucination Stress Test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&amp; System Architecture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Ambiguity Handling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Long-context Retention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Transformation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Summarization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Tasks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280160"/>
            <a:ext cx="5120640" cy="4480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Scoring Scale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(complete to partial)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Success (threshold)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 Complete Success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0233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(multi-module) prompts are decomposed into one criterion per module + a System Integration criterion — never a single holistic score.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Fault-Tolerant Automation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0116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Throttle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Provider-specific minimum call interval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34640" y="16459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180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+ Jitter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971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retry delay on transient failure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20640" y="1645920"/>
            <a:ext cx="20116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Persistent-Error Detection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971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cleanly on quota/deprecation/auth errors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06640" y="16459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Writes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2971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file + rename — never a corrupted cache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692640" y="1645920"/>
            <a:ext cx="20116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2980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22860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Resume-by-Cache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2971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completed work after any interruption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97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runs an independently executable runner — a defect in one cannot silently propagate into another.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Incidents: The Real Story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volatility is not a hypothetical risk — six real incidents occurred over eight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647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model retired (404)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Switched to free-model router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8229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423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retired, then hit 20/day quota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23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Migrated to flash-lite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8229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540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0815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 introduced billing wall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0815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Switched to Mistral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8229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12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7398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model officially deprecated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7398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Migrated to gpt-oss-120b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8229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708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3982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auth error + missed keyword bug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3982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Broadened error classifier (real code defect)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Validation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judge scored 900 responses. But is the judge trustworthy?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30-Prompt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2331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29184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20116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Independent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Raters (Blind)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331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29184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20116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vs.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&amp; Each Other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Cohen's Kappa, not raw agreement?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agreement can look reassuring even when scores cluster by chance. Kappa corrects for agreement expected by chance alone — the standard, defensible statistic for inter-rater reliability. Result: κ = 0.20–0.23 (fair agreement), within-one-point agreement of 82.6–86.0%.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Composite Score by Provider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95% confidence intervals (n = 220 per provider)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554480"/>
          <a:ext cx="7772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144000" y="1828800"/>
            <a:ext cx="2468880" cy="3657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28116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leads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27432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&amp; Groq intervals overlap — not yet a confirmed statistical difference on the overall mean alone.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281160" y="4389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is clearly lowest of the three.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Reliability: Consistency Across Repeated Calls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 — lower means more consistent scoring (20 stochastic-sample prompts, 5 runs each)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64592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144000" y="1828800"/>
            <a:ext cx="2468880" cy="3657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28116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Groq: most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2743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Gemini's variance — same-quality answers, call after call.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281160" y="41148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the mean-score result — a different, complementary property.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H1: Reasoning vs. Retrieval — All Three Providers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 on Multi-step Reasoning prompts vs. Knowledge Retrieval prompts, per provider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840480" cy="4297680"/>
          </a:xfrm>
          <a:prstGeom prst="rect">
            <a:avLst/>
          </a:prstGeom>
          <a:solidFill>
            <a:srgbClr val="F7F7F5"/>
          </a:solidFill>
          <a:ln w="12700">
            <a:solidFill>
              <a:srgbClr val="D5D5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0.47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24128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0.124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0.05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0.859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3108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0.44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0" y="3108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0.150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38404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not confirmed for any provider — all p &gt; 0.05. Gemini and Groq show a small-to-medium effect trending toward stronger reasoning than retrieval; Mistral shows negligible difference.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H2: Instruction Following vs. Difficulty — All Three Providers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between prompt difficulty tier and Instruction Following score, per provider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926080"/>
            <a:ext cx="9692640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80360"/>
            <a:ext cx="0" cy="1371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880360"/>
            <a:ext cx="0" cy="1371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2880360"/>
            <a:ext cx="0" cy="1371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2880360"/>
            <a:ext cx="0" cy="1371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607040" y="2880360"/>
            <a:ext cx="0" cy="1371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4128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3328" y="2788920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04688" y="2103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07992" y="2788920"/>
            <a:ext cx="182880" cy="1828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59352" y="3337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0216" y="2788920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48856" y="2103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not confirmed for any provider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correlations are weak in magnitude (|r| &lt; 0.25) and inconsistent in direction: Gemini and Groq show a slight positive trend (harder prompts scored marginally higher), while Mistral shows a slight negative trend (harder prompts scored marginally lower). None of the three providers show the hypothesized systematic degradation in constraint-following as difficulty increases.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H3: Hallucination Resistance — All Pairwise Comparisons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pair tested on the Hallucination Stress Test category (n = 22 per provider)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vs. Mistral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0.145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0.45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691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vs. Groq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063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0.275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3063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−0.34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063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34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vs. Groq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434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4434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−0.84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— Large Effect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comparison out of three reaches statistical significance — Groq's advantage over Mistral specifically. Gemini falls in between both providers on this dimension, not significantly different from either.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Testing: What Held Up?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5F5E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vs. Retrieval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9659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Gemini/Groq: small-medium effect, consistent direction. Mistral: negligible.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7373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(all 3 providers)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064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291840"/>
            <a:ext cx="731520" cy="731520"/>
          </a:xfrm>
          <a:prstGeom prst="ellipse">
            <a:avLst/>
          </a:prstGeom>
          <a:solidFill>
            <a:srgbClr val="5F5E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 vs. Difficulty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5661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weak, inconsistent correlation (|r| &lt; 0.25)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337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(all 3 providers)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14173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8920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709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 Mistral vs. Groq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5166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effect (d = 0.84). Only 1 of 3 pairwise comparisons.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937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 — SIGNIFICANT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Profiles: All Three, Side by Side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93592" cy="4572000"/>
          </a:xfrm>
          <a:prstGeom prst="rect">
            <a:avLst/>
          </a:prstGeom>
          <a:solidFill>
            <a:srgbClr val="E6F1FB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227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gemini-3.5-flash-lite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Mean: 11.03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CV: 0.3056 (highest variance)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average, least consistent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091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H3: not significantly different from either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33672" y="1371600"/>
            <a:ext cx="3593592" cy="4572000"/>
          </a:xfrm>
          <a:prstGeom prst="rect">
            <a:avLst/>
          </a:prstGeom>
          <a:solidFill>
            <a:srgbClr val="FAECE7"/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16552" y="1554480"/>
            <a:ext cx="3227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3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Mistral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1031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open-mistral-nemo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6517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Mean: 10.36 (lowest)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33375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CV: 0.2058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40233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Weakest average score of the three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47091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H3: significantly weaker than Groq (p=0.01)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18704" y="1371600"/>
            <a:ext cx="3593592" cy="4572000"/>
          </a:xfrm>
          <a:prstGeom prst="rect">
            <a:avLst/>
          </a:prstGeom>
          <a:solidFill>
            <a:srgbClr val="EAF3DE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01584" y="1554480"/>
            <a:ext cx="3227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6D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101584" y="210312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openai/gpt-oss-120b (hosted)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01584" y="26517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Mean: 11.16 (highest)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101584" y="33375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CV: 0.1606 (most consistent)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101584" y="40233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combination of accuracy + consistency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101584" y="47091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H3: only provider with a confirmed advantage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Finding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significantly outperforms Mistral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hallucination resistance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0.84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effect size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comparisons confirmed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hallucination resistance is the capability dimension with the greatest practical consequence — a confidently fabricated answer carries real cost in higher-stakes applications. Gemini sits between both providers on this dimension, not significantly different from either.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— Stated Plainly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51176" cy="4206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23113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judge-human agreement (κ = 0.20–0.23) means scores are directionally reliable, not exact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36976" y="1463040"/>
            <a:ext cx="2551176" cy="4206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74136" y="164592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74136" y="2286000"/>
            <a:ext cx="223113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Difficulty–score correlation partly reflects a scoring-scale artifact, not pure capability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25312" y="1463040"/>
            <a:ext cx="2551176" cy="4206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62472" y="164592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62472" y="2286000"/>
            <a:ext cx="223113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scoped to these 3 specific free-tier configurations, at this point in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13648" y="1463040"/>
            <a:ext cx="2551176" cy="4206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50808" y="1645920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750808" y="2286000"/>
            <a:ext cx="223113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H1/H2 non-significance reflects limited statistical power — not proof of no effect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hosted model: highest mean score, lowest variance, only confirmed category win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40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and Mistral show no significant differences on H1 or H2, across any provider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is a standing methodological safeguard — not a one-time formality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977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LLM research requires treating provider instability as a first-class design constraint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92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846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 package: dataset, code, logs, and this report — openly documented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Jazib Asad  |  Institute of Space Technology (KICSIT)  |  NESCOM (CENTech) Internship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2026-08-31T12:27:44Z</dcterms:created>
  <dcterms:modified xsi:type="dcterms:W3CDTF">2026-08-31T12:27:44Z</dcterms:modified>
</cp:coreProperties>
</file>