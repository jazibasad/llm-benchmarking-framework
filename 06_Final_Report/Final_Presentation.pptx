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Score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F1F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Gemini</c:v>
                  </c:pt>
                  <c:pt idx="1">
                    <c:v>Mistral</c:v>
                  </c:pt>
                  <c:pt idx="2">
                    <c:v>Groq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11.03</c:v>
                </c:pt>
                <c:pt idx="1">
                  <c:v>10.36</c:v>
                </c:pt>
                <c:pt idx="2">
                  <c:v>11.16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400" u="none">
                  <a:solidFill>
                    <a:srgbClr val="1F1F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1F1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12700" cap="flat">
              <a:solidFill>
                <a:srgbClr val="E5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Coefficient of Variation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F1F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Gemini</c:v>
                  </c:pt>
                  <c:pt idx="1">
                    <c:v>Mistral</c:v>
                  </c:pt>
                  <c:pt idx="2">
                    <c:v>Groq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0.3056</c:v>
                </c:pt>
                <c:pt idx="1">
                  <c:v>0.2058</c:v>
                </c:pt>
                <c:pt idx="2">
                  <c:v>0.1606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1" i="0" strike="noStrike" sz="1400" u="none">
                  <a:solidFill>
                    <a:srgbClr val="1F1F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1F1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5"/>
          <c:min val="0"/>
        </c:scaling>
        <c:delete val="0"/>
        <c:axPos val="l"/>
        <c:majorGridlines>
          <c:spPr>
            <a:ln w="12700" cap="flat">
              <a:solidFill>
                <a:srgbClr val="E5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Scientific Evaluation Framework for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Benchmarking Free Large Language Models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Reproducible, Human-Validated Comparison of Gemini, Mistral, and Groq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Jazib Asad  |  Computer Science, Institute of Space Technology (KICSIT)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to Mr. Uzair, Internship Supervisor, NESCOM (CENTech)  |  Final Presentation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17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Research Questions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Methodology: Dataset, Rubric, Architecture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971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Validation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Results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526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Hallucination Resistance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5303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Conclusions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Study?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5669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LLMs are chosen on marketing claims and anecdotes, not statistically grounded evidence.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724912"/>
            <a:ext cx="109728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5603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LLM-judges are rarely validated against human judgment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291840"/>
            <a:ext cx="109728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127248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evaluation runs conflate capability with sampling noise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858768"/>
            <a:ext cx="109728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694176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differences are reported without significance testing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425696"/>
            <a:ext cx="109728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261104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infrastructure is volatile — rarely documented honestly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75120" y="1188720"/>
            <a:ext cx="4937760" cy="45720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75120" y="14630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</a:t>
            </a:r>
            <a:endParaRPr lang="en-US" sz="6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4688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prompts, authored to avoid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contamination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3832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400" dirty="0"/>
          </a:p>
        </p:txBody>
      </p:sp>
      <p:sp>
        <p:nvSpPr>
          <p:cNvPr id="16" name="Text 14"/>
          <p:cNvSpPr txBox="1"/>
          <p:nvPr/>
        </p:nvSpPr>
        <p:spPr>
          <a:xfrm>
            <a:off x="6949440" y="438912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categories, 3 providers,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total scored responses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Pre-Registered Hypotheses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vs. Retrieval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 performance differs systematically from knowledge retrieval, within each provider.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34840" y="1371600"/>
            <a:ext cx="356616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09160" y="16459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26517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Following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24612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Constraint-adherence accuracy correlates with prompt difficulty tier.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321040" y="1371600"/>
            <a:ext cx="356616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95360" y="16459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9536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0" y="26517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Resistance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324612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 exhibit measurably different resistance to confidently fabricated content.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Design &amp; Scoring Rubric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Categories, 22 Prompts Each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Knowledge Retrieval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1828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Multi-step Reasoning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Instruction Following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21945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Hallucination Stress Test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560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Coding &amp; System Architecture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560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Ambiguity Handling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9260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Long-context Retention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9260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 Transformation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291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Summarization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3291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Multilingual Tasks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92240" y="1280160"/>
            <a:ext cx="5120640" cy="4480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0" y="14630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0–5 Scoring Scale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21031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0–2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148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(complete to partial)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6974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7432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Success (threshold)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32918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4–5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680960" y="33375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to Complete Success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402336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(multi-module) prompts are decomposed into one criterion per module + a System Integration criterion — never a single holistic score.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Fault-Tolerant Automation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011680" cy="237744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7830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Throttle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9718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Provider-specific minimum call interval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25146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834640" y="1645920"/>
            <a:ext cx="2011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71800" y="17830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971800" y="22860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 + Jitter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71800" y="29718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retry delay on transient failure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5146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120640" y="1645920"/>
            <a:ext cx="2011680" cy="237744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57800" y="17830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22860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Persistent-Error Detection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57800" y="29718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Halts cleanly on quota/deprecation/auth errors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25146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7406640" y="1645920"/>
            <a:ext cx="2011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43800" y="17830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22860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Writes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543800" y="29718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 file + rename — never a corrupted cache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9418320" y="25146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692640" y="1645920"/>
            <a:ext cx="2011680" cy="237744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829800" y="17830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9829800" y="22860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Resume-by-Cache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29800" y="29718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Skips completed work after any interruption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2976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provider runs an independently executable runner — a defect in one cannot silently propagate into another.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Operational Incidents: The Real Story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volatility is not a hypothetical risk — six real incidents occurred over eight weeks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822960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764792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model retired (404)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7647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Switched to free-model router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395728"/>
            <a:ext cx="822960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39572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Wk4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42316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retired, then hit 20/day quota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42316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Migrated to flash-lite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822960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05409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3081528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Cerebras introduced billing wall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08152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Switched to Mistral AI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712464"/>
            <a:ext cx="822960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71246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3739896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model officially deprecated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73989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Migrated to gpt-oss-120b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370832"/>
            <a:ext cx="822960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437083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398264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auth error + missed keyword bug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439826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Broadened error classifier (real code defect)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Human-in-the-Loop Validation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judge scored 660 responses. But is the judge trustworthy?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291840" cy="13716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30-Prompt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Sample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23317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389120" y="2011680"/>
            <a:ext cx="3291840" cy="13716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89120" y="201168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Independent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Raters (Blind)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3317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2011680"/>
            <a:ext cx="3291840" cy="13716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201168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vs.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&amp; Each Other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840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Cohen's Kappa, not raw agreement?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43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agreement can look reassuring even when scores cluster by chance. Kappa corrects for agreement expected by chance alone — the standard, defensible statistic for inter-rater reliability.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 Composite Score by Provider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95% confidence intervals (n = 220 per provider)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1097280" y="1554480"/>
          <a:ext cx="77724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9144000" y="1828800"/>
            <a:ext cx="2468880" cy="36576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281160" y="20116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leads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numerically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281160" y="274320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&amp; Groq intervals overlap — not yet a confirmed statistical difference on the overall mean alone.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281160" y="43891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is clearly lowest of the three.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Reliability: Consistency Across Repeated Calls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of variation — lower means more consistent scoring (20 stochastic-sample prompts, 5 runs each)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1097280" y="1645920"/>
          <a:ext cx="7772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9144000" y="1828800"/>
            <a:ext cx="2468880" cy="3657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281160" y="20116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Groq: most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281160" y="2743200"/>
            <a:ext cx="2194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half Gemini's variance — same-quality answers, call after call.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281160" y="411480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of the mean-score result — a different, complementary property.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Hypothesis Testing: What Held Up?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5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5F5E5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6002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vs. Retrieval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0574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Small-medium effect, consistent direction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178308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11064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5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246120"/>
            <a:ext cx="731520" cy="731520"/>
          </a:xfrm>
          <a:prstGeom prst="ellipse">
            <a:avLst/>
          </a:prstGeom>
          <a:solidFill>
            <a:srgbClr val="5F5E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246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31089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Following vs. Difficulty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828800" y="356616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Weak, inconsistent correlation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29184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11064240" cy="1280160"/>
          </a:xfrm>
          <a:prstGeom prst="rect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75488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754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46177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Hallucination: Mistral vs. Groq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828800" y="507492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effect (d = 0.84)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8006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0.01 — SIGNIFICANT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Headline Finding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Groq significantly outperforms Mistral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hallucination resistance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0.01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 significant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251960" y="27432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= 0.84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251960" y="365760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effect size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7432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365760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per category, per provider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6634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hallucination resistance is the capability dimension with the greatest practical consequence — a confidently fabricated answer carries real cost in higher-stakes applications.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— Stated Plainly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51176" cy="42062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645920"/>
            <a:ext cx="22311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2231136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 judge-human agreement (κ = 0.20–0.23) means scores are directionally reliable, not exact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36976" y="1463040"/>
            <a:ext cx="2551176" cy="42062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74136" y="1645920"/>
            <a:ext cx="22311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374136" y="2286000"/>
            <a:ext cx="2231136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Difficulty–score correlation partly reflects a scoring-scale artifact, not pure capability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25312" y="1463040"/>
            <a:ext cx="2551176" cy="42062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62472" y="1645920"/>
            <a:ext cx="22311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062472" y="2286000"/>
            <a:ext cx="2231136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are scoped to these 3 specific free-tier configurations, at this point in time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13648" y="1463040"/>
            <a:ext cx="2551176" cy="42062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50808" y="1645920"/>
            <a:ext cx="22311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750808" y="2286000"/>
            <a:ext cx="2231136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H1/H2 non-significance reflects limited statistical power — not proof of no effect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20040" cy="32004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463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Groq's hosted model: highest mean score, lowest variance, only confirmed category win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320040" cy="32004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4688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423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validation is a standing methodological safeguard — not a one-time formality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320040" cy="32004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429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3832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LLM research requires treating provider instability as a first-class design constraint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320040" cy="32004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389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43434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reproducibility package: dataset, code, logs, and this report — openly documented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Jazib Asad  |  Institute of Space Technology (KICSIT)  |  NESCOM (CENTech) Internship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2026-08-28T09:58:05Z</dcterms:created>
  <dcterms:modified xsi:type="dcterms:W3CDTF">2026-08-28T09:58:05Z</dcterms:modified>
</cp:coreProperties>
</file>